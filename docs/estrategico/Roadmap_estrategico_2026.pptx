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Usuarios activos mensuales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Usuarios activos (millones)</c:v>
                </c:pt>
              </c:strCache>
            </c:strRef>
          </c:tx>
          <c:spPr>
            <a:solidFill>
              <a:srgbClr val="0E7C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(obj.)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</c:v>
                </c:pt>
                <c:pt idx="1">
                  <c:v>1.8</c:v>
                </c:pt>
                <c:pt idx="2">
                  <c:v>3.1</c:v>
                </c:pt>
                <c:pt idx="3">
                  <c:v>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Ingresos totales anuales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anuales (USD mm)</c:v>
                </c:pt>
              </c:strCache>
            </c:strRef>
          </c:tx>
          <c:spPr>
            <a:solidFill>
              <a:srgbClr val="1F3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(obj.)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9.9</c:v>
                </c:pt>
                <c:pt idx="1">
                  <c:v>17.3</c:v>
                </c:pt>
                <c:pt idx="2">
                  <c:v>28</c:v>
                </c:pt>
                <c:pt idx="3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Estratégico 2026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383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NubePay — Banco digital para Latinoamérica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interna · Comité Ejecutivo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Pilares estratégicos 2026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444752"/>
            <a:ext cx="109728" cy="457200"/>
          </a:xfrm>
          <a:prstGeom prst="rect">
            <a:avLst/>
          </a:prstGeom>
          <a:solidFill>
            <a:srgbClr val="0E7C6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898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 geográfica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e iniciar entrada a Perú, quinto mercado de operación.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18872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1444752"/>
            <a:ext cx="10972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3898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Profundización de producto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29400" y="187452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Lanzar cuentas de ahorro remuneradas de alto rendimiento y crédito de nómina.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547872"/>
            <a:ext cx="109728" cy="457200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4930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Excelencia operacional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397764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tiempo de resolución de disputas de 5 a 2 días hábiles.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2918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3547872"/>
            <a:ext cx="109728" cy="457200"/>
          </a:xfrm>
          <a:prstGeom prst="rect">
            <a:avLst/>
          </a:prstGeom>
          <a:solidFill>
            <a:srgbClr val="0E7C61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4930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 y seguridad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29400" y="397764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Certificación PCI-DSS nivel 1 y reducción de fraude en 30%.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de iniciativas clave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F3B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2606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completa a nueva API de pagos v3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Certificación PCI-DSS — fase de auditoría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F3B57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1887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37560" y="1874520"/>
            <a:ext cx="2606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 mercado en Perú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Lanzamiento de cuentas de ahorro de alto rendimiento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F3B57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1887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2606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de crédito de nómina en México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de SLA de disputas a 2 días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915400" y="11887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F3B57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11887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15400" y="1874520"/>
            <a:ext cx="2606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de inversión para entrada a Perú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certificación PCI-DSS nivel 1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objetivo 2026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18872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 y dependencias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3474720"/>
        </p:xfrm>
        <a:graphic>
          <a:graphicData uri="http://schemas.openxmlformats.org/drawingml/2006/table">
            <a:tbl>
              <a:tblPr/>
              <a:tblGrid>
                <a:gridCol w="4206240"/>
                <a:gridCol w="1645920"/>
                <a:gridCol w="521208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Riesgo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Impacto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Mitigación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Retraso regulatorio en Perú (registro EEDE)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Alto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Iniciar conversaciones tempranas con la SBS; equipo legal dedicado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Certificación PCI-DSS fuera de plazo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Medio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Auditoría externa contratada desde Q1, con checkpoints mensuales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Competencia agresiva en precios (mercados existentes)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Medio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Foco en diferenciación por producto de ahorro y experiencia de soporte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Escasez de talento técnico especializado en pagos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Bajo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Programa de referidos internos y alianza con universidades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7C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Aprobación del presupuesto de expansión — Comité Ejecutivo, marzo 2026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Kickoff del equipo de certificación PCI-DSS — abril 2026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reporte de seguimiento trimestral — julio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2026-07-09T20:12:05Z</dcterms:created>
  <dcterms:modified xsi:type="dcterms:W3CDTF">2026-07-09T20:12:05Z</dcterms:modified>
</cp:coreProperties>
</file>