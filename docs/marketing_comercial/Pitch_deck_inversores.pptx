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(USD bn)</c:v>
                </c:pt>
              </c:strCache>
            </c:strRef>
          </c:tx>
          <c:spPr>
            <a:solidFill>
              <a:srgbClr val="0E7C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</c:v>
                  </c:pt>
                  <c:pt idx="1">
                    <c:v>SAM</c:v>
                  </c:pt>
                  <c:pt idx="2">
                    <c:v>SOM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42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Crecimiento de usuarios activos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Usuarios activos (millones)</c:v>
                </c:pt>
              </c:strCache>
            </c:strRef>
          </c:tx>
          <c:spPr>
            <a:solidFill>
              <a:srgbClr val="0E7C61"/>
            </a:solidFill>
            <a:ln w="38100" cap="flat">
              <a:solidFill>
                <a:srgbClr val="0E7C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61"/>
              </a:solidFill>
              <a:ln w="9525" cap="flat">
                <a:solidFill>
                  <a:srgbClr val="0E7C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0.9</c:v>
                </c:pt>
                <c:pt idx="2">
                  <c:v>1.8</c:v>
                </c:pt>
                <c:pt idx="3">
                  <c:v>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Ingresos anuales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(USD mm)</c:v>
                </c:pt>
              </c:strCache>
            </c:strRef>
          </c:tx>
          <c:spPr>
            <a:solidFill>
              <a:srgbClr val="1F3B57"/>
            </a:solidFill>
            <a:ln w="38100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9.9</c:v>
                </c:pt>
                <c:pt idx="2">
                  <c:v>17.3</c:v>
                </c:pt>
                <c:pt idx="3">
                  <c:v>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830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NubePay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financieros simples y transparentes para toda Latinoamérica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Serie B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adultos en LATAM están subatendidos o no bancarizados por la banca tradicional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97680" y="2331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costo promedio de enviar una remesa internacional a través de canales tradicionales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7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días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0" y="2331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tarda en promedio una transferencia internacional en acreditarse en la banca tradicional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NubePay elimina fricciones, tiempos y costos innecesarios en los servicios financieros cotidianos.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solución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457200" cy="457200"/>
          </a:xfrm>
          <a:prstGeom prst="oval">
            <a:avLst/>
          </a:prstGeom>
          <a:solidFill>
            <a:srgbClr val="0E7C61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435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 multimoneda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en USD y moneda local, con conversión instantánea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508760"/>
            <a:ext cx="457200" cy="457200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1435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Transferencias en minutos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 e internacional, a una fracción del costo bancario tradicional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383280"/>
            <a:ext cx="457200" cy="457200"/>
          </a:xfrm>
          <a:prstGeom prst="oval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310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remunerado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5% APY, muy por encima de la cuenta de ahorro promedio del mercado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1089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3383280"/>
            <a:ext cx="457200" cy="457200"/>
          </a:xfrm>
          <a:prstGeom prst="oval">
            <a:avLst/>
          </a:prstGeom>
          <a:solidFill>
            <a:srgbClr val="0E7C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310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físicas y virtuales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37490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Emisión inmediata, control total de límites desde la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de mercado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— USD 180bn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75120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total de servicios financieros digitales en LATAM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— USD 42bn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512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direccionable: pagos, remesas y ahorro digital en los 4 países de operación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— USD 6bn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0" y="43434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objetivo alcanzable en los próximos 3 años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23444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315200" cy="228600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Fuente de ingreso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de ingresos totales (2025)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Comisiones por transferencia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76%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Suscripciones de planes Pro/Business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Ingresos por intereses (float de cuentas)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Otros (referidos, partnerships)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40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monetización de largo plazo: cross-sell de productos de crédito de nómina y seguros embebidos a partir de 2027, sobre la base instalada de usuarios activos.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fundador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20240" y="1280160"/>
            <a:ext cx="914400" cy="914400"/>
          </a:xfrm>
          <a:prstGeom prst="oval">
            <a:avLst/>
          </a:prstGeom>
          <a:solidFill>
            <a:srgbClr val="F4F6F8"/>
          </a:solidFill>
          <a:ln w="19050">
            <a:solidFill>
              <a:srgbClr val="1F3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Co-fundadora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Ex-VP de Producto en una fintech regional; 12 años en pagos digitales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914400" cy="914400"/>
          </a:xfrm>
          <a:prstGeom prst="oval">
            <a:avLst/>
          </a:prstGeom>
          <a:solidFill>
            <a:srgbClr val="F4F6F8"/>
          </a:solidFill>
          <a:ln w="19050">
            <a:solidFill>
              <a:srgbClr val="1F3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&amp; Co-fundador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Ex-Ingeniero de Infraestructura en una big tech; especialista en sistemas de pago a escala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18320" y="1280160"/>
            <a:ext cx="914400" cy="914400"/>
          </a:xfrm>
          <a:prstGeom prst="oval">
            <a:avLst/>
          </a:prstGeom>
          <a:solidFill>
            <a:srgbClr val="F4F6F8"/>
          </a:solidFill>
          <a:ln w="19050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Risk Officer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Ex-Superintendencia de Bancos; 15 años en regulación financiera en LATAM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7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Buscamos levantar USD 25M en una Ronda Serie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— Expansión a Perú y futuros mercados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— Desarrollo de nuevos productos (crédito, seguros)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— Fortalecimiento de equipo de riesgo y compliance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— Marketing y adquisición de clientes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2026-07-09T20:47:38Z</dcterms:created>
  <dcterms:modified xsi:type="dcterms:W3CDTF">2026-07-09T20:47:38Z</dcterms:modified>
</cp:coreProperties>
</file>